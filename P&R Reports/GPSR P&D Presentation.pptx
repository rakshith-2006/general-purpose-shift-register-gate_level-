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5DBD97-2F2F-4942-91A8-AC87E754A51C}">
  <a:tblStyle styleId="{B55DBD97-2F2F-4942-91A8-AC87E754A51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4.xml"/><Relationship Id="rId33" Type="http://schemas.openxmlformats.org/officeDocument/2006/relationships/font" Target="fonts/Lato-boldItalic.fntdata"/><Relationship Id="rId10" Type="http://schemas.openxmlformats.org/officeDocument/2006/relationships/slide" Target="slides/slide3.xml"/><Relationship Id="rId32" Type="http://schemas.openxmlformats.org/officeDocument/2006/relationships/font" Target="fonts/Lato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5ae5f277f_2_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d5ae5f277f_2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5ae5f277f_2_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d5ae5f277f_2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5ae5f277f_2_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d5ae5f277f_2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6e2ff3a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6e2ff3a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5ae5f277f_2_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d5ae5f277f_2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ecb26589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ecb26589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5ae5f277f_2_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5ae5f277f_2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6e2ff3ab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6e2ff3ab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5ae5f277f_2_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d5ae5f277f_2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6e2ff3ab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6e2ff3ab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5ae5f277f_2_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d5ae5f277f_2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5ae5f277f_2_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d5ae5f277f_2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5afc67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5afc67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5ae5f277f_2_1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d5ae5f277f_2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5ae5f277f_2_1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d5ae5f277f_2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6e2ff3ab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6e2ff3ab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5ae5f277f_2_1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d5ae5f277f_2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5ae5f277f_2_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d5ae5f277f_2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ff73c4e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dff73c4e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5ae5f277f_2_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d5ae5f277f_2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5ae5f277f_2_1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d5ae5f277f_2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1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13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628651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8651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629841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628651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 showMasterSp="0">
  <p:cSld name="Custom Layou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corporate background" id="101" name="Google Shape;101;p21"/>
          <p:cNvPicPr preferRelativeResize="0"/>
          <p:nvPr/>
        </p:nvPicPr>
        <p:blipFill rotWithShape="1">
          <a:blip r:embed="rId2">
            <a:alphaModFix/>
          </a:blip>
          <a:srcRect b="0" l="0" r="0" t="9831"/>
          <a:stretch/>
        </p:blipFill>
        <p:spPr>
          <a:xfrm>
            <a:off x="-1" y="0"/>
            <a:ext cx="9144002" cy="515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1"/>
          <p:cNvPicPr preferRelativeResize="0"/>
          <p:nvPr/>
        </p:nvPicPr>
        <p:blipFill rotWithShape="1">
          <a:blip r:embed="rId3">
            <a:alphaModFix/>
          </a:blip>
          <a:srcRect b="34875" l="18331" r="17702" t="32662"/>
          <a:stretch/>
        </p:blipFill>
        <p:spPr>
          <a:xfrm>
            <a:off x="49696" y="3488635"/>
            <a:ext cx="4651514" cy="166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1"/>
          <p:cNvSpPr txBox="1"/>
          <p:nvPr>
            <p:ph type="title"/>
          </p:nvPr>
        </p:nvSpPr>
        <p:spPr>
          <a:xfrm>
            <a:off x="400050" y="959644"/>
            <a:ext cx="417194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400050" y="1953816"/>
            <a:ext cx="2949178" cy="4812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 showMasterSp="0">
  <p:cSld name="1_Custom Layou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corporate background" id="106" name="Google Shape;106;p22"/>
          <p:cNvPicPr preferRelativeResize="0"/>
          <p:nvPr/>
        </p:nvPicPr>
        <p:blipFill rotWithShape="1">
          <a:blip r:embed="rId2">
            <a:alphaModFix/>
          </a:blip>
          <a:srcRect b="0" l="0" r="0" t="9831"/>
          <a:stretch/>
        </p:blipFill>
        <p:spPr>
          <a:xfrm>
            <a:off x="0" y="-9660"/>
            <a:ext cx="9144000" cy="5153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2"/>
          <p:cNvPicPr preferRelativeResize="0"/>
          <p:nvPr/>
        </p:nvPicPr>
        <p:blipFill rotWithShape="1">
          <a:blip r:embed="rId3">
            <a:alphaModFix/>
          </a:blip>
          <a:srcRect b="34875" l="18331" r="17702" t="32662"/>
          <a:stretch/>
        </p:blipFill>
        <p:spPr>
          <a:xfrm>
            <a:off x="49696" y="3488635"/>
            <a:ext cx="4651514" cy="166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224667" y="456182"/>
            <a:ext cx="6233283" cy="85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22A35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222A3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629842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12" name="Google Shape;112;p23"/>
          <p:cNvSpPr txBox="1"/>
          <p:nvPr>
            <p:ph idx="2" type="body"/>
          </p:nvPr>
        </p:nvSpPr>
        <p:spPr>
          <a:xfrm>
            <a:off x="629842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1" type="ftr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24829" y="212"/>
            <a:ext cx="3326788" cy="514221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4"/>
          <p:cNvSpPr txBox="1"/>
          <p:nvPr>
            <p:ph type="title"/>
          </p:nvPr>
        </p:nvSpPr>
        <p:spPr>
          <a:xfrm>
            <a:off x="6172201" y="1885950"/>
            <a:ext cx="260604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Font typeface="Calibri"/>
              <a:buNone/>
              <a:defRPr sz="2400">
                <a:solidFill>
                  <a:srgbClr val="2E75B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592726" y="514350"/>
            <a:ext cx="45948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0" name="Google Shape;120;p24"/>
          <p:cNvSpPr txBox="1"/>
          <p:nvPr>
            <p:ph idx="2" type="body"/>
          </p:nvPr>
        </p:nvSpPr>
        <p:spPr>
          <a:xfrm>
            <a:off x="6172200" y="3257550"/>
            <a:ext cx="260604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1" name="Google Shape;121;p24"/>
          <p:cNvSpPr/>
          <p:nvPr/>
        </p:nvSpPr>
        <p:spPr>
          <a:xfrm>
            <a:off x="5783777" y="0"/>
            <a:ext cx="41148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5400" rotWithShape="0" algn="t" dist="25400">
              <a:schemeClr val="lt1">
                <a:alpha val="40000"/>
              </a:scheme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417127" y="4814597"/>
            <a:ext cx="1013537" cy="179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629842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5"/>
          <p:cNvSpPr/>
          <p:nvPr>
            <p:ph idx="2" type="pic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629842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9" name="Google Shape;129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1" type="ftr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1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34879" l="19656" r="19793" t="34396"/>
          <a:stretch/>
        </p:blipFill>
        <p:spPr>
          <a:xfrm>
            <a:off x="7378433" y="2414"/>
            <a:ext cx="1765565" cy="63369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5200C"/>
                </a:solidFill>
              </a:rPr>
              <a:t>PHYSICAL DESIGN PRESENTATION</a:t>
            </a:r>
            <a:endParaRPr>
              <a:solidFill>
                <a:srgbClr val="85200C"/>
              </a:solidFill>
            </a:endParaRPr>
          </a:p>
        </p:txBody>
      </p:sp>
      <p:sp>
        <p:nvSpPr>
          <p:cNvPr id="137" name="Google Shape;13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155CC"/>
                </a:solidFill>
              </a:rPr>
              <a:t>GENERAL PURPOSE SHIFT REGISTER</a:t>
            </a:r>
            <a:endParaRPr sz="30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/>
        </p:nvSpPr>
        <p:spPr>
          <a:xfrm>
            <a:off x="8433" y="84407"/>
            <a:ext cx="458577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Design QOR Evaluation Metrics: </a:t>
            </a:r>
            <a:endParaRPr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27"/>
          <p:cNvGraphicFramePr/>
          <p:nvPr/>
        </p:nvGraphicFramePr>
        <p:xfrm>
          <a:off x="384405" y="8692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580200"/>
                <a:gridCol w="2963475"/>
                <a:gridCol w="1470125"/>
              </a:tblGrid>
              <a:tr h="27607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Block Name :  Pla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cement_done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 No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Parameter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Values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of</a:t>
                      </a:r>
                      <a:r>
                        <a:rPr lang="en" sz="1200"/>
                        <a:t> cells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32510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Hard Macros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ports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105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voltage domain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Master clock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generated</a:t>
                      </a:r>
                      <a:r>
                        <a:rPr lang="en" sz="1200"/>
                        <a:t> clock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Number of Modes</a:t>
                      </a: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corners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of scenarios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Total metal layers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 (M1-M8),with  2 MRDL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Unresolved instances</a:t>
                      </a:r>
                      <a:r>
                        <a:rPr lang="en" sz="1200"/>
                        <a:t> / Black boxes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" name="Google Shape;144;p27"/>
          <p:cNvSpPr/>
          <p:nvPr/>
        </p:nvSpPr>
        <p:spPr>
          <a:xfrm>
            <a:off x="384405" y="476822"/>
            <a:ext cx="22409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Import design summary  :   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/>
        </p:nvSpPr>
        <p:spPr>
          <a:xfrm>
            <a:off x="8433" y="84407"/>
            <a:ext cx="458577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Design QOR Evaluation Metrics: </a:t>
            </a:r>
            <a:endParaRPr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8"/>
          <p:cNvGraphicFramePr/>
          <p:nvPr/>
        </p:nvGraphicFramePr>
        <p:xfrm>
          <a:off x="950729" y="831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580200"/>
                <a:gridCol w="2963475"/>
                <a:gridCol w="1470125"/>
              </a:tblGrid>
              <a:tr h="27607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Block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Name :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 No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Parameter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Values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Total</a:t>
                      </a:r>
                      <a:r>
                        <a:rPr lang="en" sz="1200"/>
                        <a:t> core area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391890 Sq.units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Core</a:t>
                      </a:r>
                      <a:r>
                        <a:rPr lang="en" sz="1200"/>
                        <a:t> utilization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63.46%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Distance between core and</a:t>
                      </a:r>
                      <a:r>
                        <a:rPr lang="en" sz="1200"/>
                        <a:t> die area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 units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8"/>
          <p:cNvSpPr/>
          <p:nvPr/>
        </p:nvSpPr>
        <p:spPr>
          <a:xfrm>
            <a:off x="384405" y="476822"/>
            <a:ext cx="19006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Floorplan Summary :   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8"/>
          <p:cNvSpPr txBox="1"/>
          <p:nvPr/>
        </p:nvSpPr>
        <p:spPr>
          <a:xfrm>
            <a:off x="2880775" y="4883000"/>
            <a:ext cx="35997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/>
        </p:nvSpPr>
        <p:spPr>
          <a:xfrm>
            <a:off x="8433" y="84407"/>
            <a:ext cx="458577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Design QOR Evaluation Metrics: </a:t>
            </a:r>
            <a:endParaRPr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29"/>
          <p:cNvGraphicFramePr/>
          <p:nvPr/>
        </p:nvGraphicFramePr>
        <p:xfrm>
          <a:off x="266838" y="7076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516925"/>
                <a:gridCol w="1871250"/>
                <a:gridCol w="1743900"/>
                <a:gridCol w="2361100"/>
              </a:tblGrid>
              <a:tr h="276075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Block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Name :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</a:tr>
              <a:tr h="27607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solidFill>
                            <a:schemeClr val="dk1"/>
                          </a:solidFill>
                        </a:rPr>
                        <a:t>Port</a:t>
                      </a:r>
                      <a:r>
                        <a:rPr lang="en" sz="1200" u="sng">
                          <a:solidFill>
                            <a:schemeClr val="dk1"/>
                          </a:solidFill>
                        </a:rPr>
                        <a:t> Placement Summary </a:t>
                      </a:r>
                      <a:endParaRPr sz="1200" u="sng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 No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Port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groups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Layers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Side / location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Input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M5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Left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Output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M6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Bottom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" name="Google Shape;159;p29"/>
          <p:cNvSpPr/>
          <p:nvPr/>
        </p:nvSpPr>
        <p:spPr>
          <a:xfrm>
            <a:off x="110084" y="430655"/>
            <a:ext cx="30233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Port placement  Summary and QOR :   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9"/>
          <p:cNvSpPr/>
          <p:nvPr/>
        </p:nvSpPr>
        <p:spPr>
          <a:xfrm>
            <a:off x="277197" y="2835224"/>
            <a:ext cx="1781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" name="Google Shape;161;p29"/>
          <p:cNvGraphicFramePr/>
          <p:nvPr/>
        </p:nvGraphicFramePr>
        <p:xfrm>
          <a:off x="266837" y="24786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342700"/>
                <a:gridCol w="1928475"/>
                <a:gridCol w="724400"/>
                <a:gridCol w="734775"/>
                <a:gridCol w="2431550"/>
                <a:gridCol w="1008775"/>
                <a:gridCol w="1077775"/>
              </a:tblGrid>
              <a:tr h="292650">
                <a:tc gridSpan="7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Block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Name :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68600">
                <a:tc grid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sng"/>
                        <a:t>Port placement  QOR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43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 No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Parameter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Expected Value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Actual Value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Analysis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Controlled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action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Final Value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28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Unplaced ports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r>
                        <a:rPr lang="en" sz="1200"/>
                        <a:t>heck_pin_placement-wire_track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true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ports at illegal locations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check_pin_placement -wire_track true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ports off the tracks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check_pin_placement -wire_track true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8400" y="217500"/>
            <a:ext cx="5200900" cy="37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0"/>
          <p:cNvSpPr txBox="1"/>
          <p:nvPr/>
        </p:nvSpPr>
        <p:spPr>
          <a:xfrm>
            <a:off x="1540875" y="4116250"/>
            <a:ext cx="55413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0"/>
          <p:cNvSpPr txBox="1"/>
          <p:nvPr/>
        </p:nvSpPr>
        <p:spPr>
          <a:xfrm>
            <a:off x="1251525" y="4289850"/>
            <a:ext cx="6821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FLOORPLAN AND PORT PLACEMENT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8433" y="84407"/>
            <a:ext cx="458577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Design QOR Evaluation Metrics: </a:t>
            </a:r>
            <a:endParaRPr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4" name="Google Shape;174;p31"/>
          <p:cNvGraphicFramePr/>
          <p:nvPr/>
        </p:nvGraphicFramePr>
        <p:xfrm>
          <a:off x="330886" y="7443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848350"/>
                <a:gridCol w="3070975"/>
                <a:gridCol w="3931450"/>
              </a:tblGrid>
              <a:tr h="36765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Block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Name :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</a:tr>
              <a:tr h="36765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solidFill>
                            <a:schemeClr val="dk1"/>
                          </a:solidFill>
                        </a:rPr>
                        <a:t>Macro Placement Summary </a:t>
                      </a:r>
                      <a:endParaRPr sz="1200" u="sng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</a:tr>
              <a:tr h="3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 No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Parameter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Values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3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of macro</a:t>
                      </a:r>
                      <a:r>
                        <a:rPr lang="en" sz="1200"/>
                        <a:t> families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04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Maximum channel</a:t>
                      </a:r>
                      <a:r>
                        <a:rPr lang="en" sz="1200"/>
                        <a:t> spacing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 units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Type</a:t>
                      </a:r>
                      <a:r>
                        <a:rPr lang="en" sz="1200"/>
                        <a:t> of blockage in channel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Soft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Percentage</a:t>
                      </a:r>
                      <a:r>
                        <a:rPr lang="en" sz="1200"/>
                        <a:t> of partial blockage in channel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None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of times</a:t>
                      </a:r>
                      <a:r>
                        <a:rPr lang="en" sz="1200"/>
                        <a:t> macro placement iterated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 times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Congestion with final macro placement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</a:t>
                      </a:r>
                      <a:r>
                        <a:rPr lang="en" sz="1200"/>
                        <a:t>14%(Horizontal)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</a:t>
                      </a:r>
                      <a:r>
                        <a:rPr lang="en" sz="1200"/>
                        <a:t>1%(vertical)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31"/>
          <p:cNvSpPr/>
          <p:nvPr/>
        </p:nvSpPr>
        <p:spPr>
          <a:xfrm>
            <a:off x="110084" y="429525"/>
            <a:ext cx="31814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4) Macro placement  Summary and QOR :   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1"/>
          <p:cNvSpPr/>
          <p:nvPr/>
        </p:nvSpPr>
        <p:spPr>
          <a:xfrm>
            <a:off x="277197" y="2835224"/>
            <a:ext cx="1781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3900" y="166850"/>
            <a:ext cx="4419599" cy="433876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2"/>
          <p:cNvSpPr txBox="1"/>
          <p:nvPr/>
        </p:nvSpPr>
        <p:spPr>
          <a:xfrm>
            <a:off x="2387275" y="4673275"/>
            <a:ext cx="48396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MACRO PLACEMENT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/>
        </p:nvSpPr>
        <p:spPr>
          <a:xfrm>
            <a:off x="8433" y="84407"/>
            <a:ext cx="458577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Design QOR Evaluation Metrics: </a:t>
            </a:r>
            <a:endParaRPr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8" name="Google Shape;188;p33"/>
          <p:cNvGraphicFramePr/>
          <p:nvPr/>
        </p:nvGraphicFramePr>
        <p:xfrm>
          <a:off x="266837" y="7065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387525"/>
                <a:gridCol w="1402825"/>
                <a:gridCol w="1097450"/>
                <a:gridCol w="1979975"/>
                <a:gridCol w="2262175"/>
              </a:tblGrid>
              <a:tr h="266975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Block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Name :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</a:tr>
              <a:tr h="266975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solidFill>
                            <a:schemeClr val="dk1"/>
                          </a:solidFill>
                        </a:rPr>
                        <a:t>Power</a:t>
                      </a:r>
                      <a:r>
                        <a:rPr lang="en" sz="1200" u="sng">
                          <a:solidFill>
                            <a:schemeClr val="dk1"/>
                          </a:solidFill>
                        </a:rPr>
                        <a:t> Planning Summary </a:t>
                      </a:r>
                      <a:endParaRPr sz="1200" u="sng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</a:tr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 No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Parameters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Layers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Width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Set to set distance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Rings</a:t>
                      </a: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Stripes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M2,M7,M8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M2-0.192,M7-1.104,M8-4.64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M2-3.648,M7-13.42,M8-19.45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Rails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M1-0.66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M1-1.672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33"/>
          <p:cNvSpPr/>
          <p:nvPr/>
        </p:nvSpPr>
        <p:spPr>
          <a:xfrm>
            <a:off x="110084" y="429525"/>
            <a:ext cx="29950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5) Power Planning Summary and QOR :   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3"/>
          <p:cNvSpPr/>
          <p:nvPr/>
        </p:nvSpPr>
        <p:spPr>
          <a:xfrm>
            <a:off x="277197" y="2835224"/>
            <a:ext cx="1781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33"/>
          <p:cNvGraphicFramePr/>
          <p:nvPr/>
        </p:nvGraphicFramePr>
        <p:xfrm>
          <a:off x="219337" y="25359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339400"/>
                <a:gridCol w="1909875"/>
                <a:gridCol w="717400"/>
                <a:gridCol w="727700"/>
                <a:gridCol w="1863625"/>
                <a:gridCol w="1543500"/>
                <a:gridCol w="1067375"/>
              </a:tblGrid>
              <a:tr h="252900">
                <a:tc gridSpan="7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Block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Name :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32125">
                <a:tc grid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sng"/>
                        <a:t>Power</a:t>
                      </a:r>
                      <a:r>
                        <a:rPr lang="en" sz="1200" u="sng"/>
                        <a:t> Planning</a:t>
                      </a:r>
                      <a:r>
                        <a:rPr lang="en" sz="1200" u="sng"/>
                        <a:t>  QOR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37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 No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Parameter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Expected Value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Actual Value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Analysis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Controlled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action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Final Metric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84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of</a:t>
                      </a:r>
                      <a:r>
                        <a:rPr lang="en" sz="1200"/>
                        <a:t> PG DRC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When we used check_pg_drc -do_not_check_shapes_in_heiracical, we got none violations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r>
                        <a:rPr lang="en" sz="1200"/>
                        <a:t> of PG shorts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violations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r>
                        <a:rPr lang="en" sz="1200"/>
                        <a:t> of PG connectivity violations </a:t>
                      </a: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violations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9025" y="159625"/>
            <a:ext cx="3950151" cy="403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4"/>
          <p:cNvSpPr txBox="1"/>
          <p:nvPr/>
        </p:nvSpPr>
        <p:spPr>
          <a:xfrm>
            <a:off x="2003875" y="4318800"/>
            <a:ext cx="4275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POWERPLAN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/>
        </p:nvSpPr>
        <p:spPr>
          <a:xfrm>
            <a:off x="8433" y="84407"/>
            <a:ext cx="458577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Design QOR Evaluation Metrics: </a:t>
            </a:r>
            <a:endParaRPr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3" name="Google Shape;203;p35"/>
          <p:cNvGraphicFramePr/>
          <p:nvPr/>
        </p:nvGraphicFramePr>
        <p:xfrm>
          <a:off x="277197" y="10094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992300"/>
                <a:gridCol w="3012400"/>
                <a:gridCol w="3389800"/>
              </a:tblGrid>
              <a:tr h="26697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Block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Name :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</a:tr>
              <a:tr h="26697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solidFill>
                            <a:schemeClr val="dk1"/>
                          </a:solidFill>
                        </a:rPr>
                        <a:t>Placement</a:t>
                      </a:r>
                      <a:r>
                        <a:rPr lang="en" sz="1200" u="sng">
                          <a:solidFill>
                            <a:schemeClr val="dk1"/>
                          </a:solidFill>
                        </a:rPr>
                        <a:t> Summary </a:t>
                      </a:r>
                      <a:endParaRPr sz="1200" u="sng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</a:tr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 No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Parameters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Value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of End cap cells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Number of TAP</a:t>
                      </a:r>
                      <a:r>
                        <a:rPr lang="en" sz="1200"/>
                        <a:t> cells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TAP</a:t>
                      </a:r>
                      <a:r>
                        <a:rPr lang="en" sz="1200"/>
                        <a:t> cells Interval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DCAP Cells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9024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of spare cells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35"/>
          <p:cNvSpPr/>
          <p:nvPr/>
        </p:nvSpPr>
        <p:spPr>
          <a:xfrm>
            <a:off x="146940" y="476822"/>
            <a:ext cx="28289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6)  Physical cell placement Summay :   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5"/>
          <p:cNvSpPr/>
          <p:nvPr/>
        </p:nvSpPr>
        <p:spPr>
          <a:xfrm>
            <a:off x="277197" y="2835224"/>
            <a:ext cx="1781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2575" y="311575"/>
            <a:ext cx="4238750" cy="412167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6"/>
          <p:cNvSpPr txBox="1"/>
          <p:nvPr/>
        </p:nvSpPr>
        <p:spPr>
          <a:xfrm>
            <a:off x="2358350" y="4354975"/>
            <a:ext cx="40872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PHYSICAL CELL PLACEMENT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/>
          <p:nvPr/>
        </p:nvSpPr>
        <p:spPr>
          <a:xfrm>
            <a:off x="8433" y="84407"/>
            <a:ext cx="458577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Design QOR Evaluation Metrics: </a:t>
            </a:r>
            <a:endParaRPr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7" name="Google Shape;217;p37"/>
          <p:cNvGraphicFramePr/>
          <p:nvPr/>
        </p:nvGraphicFramePr>
        <p:xfrm>
          <a:off x="277197" y="10094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992300"/>
                <a:gridCol w="3012400"/>
                <a:gridCol w="3389800"/>
              </a:tblGrid>
              <a:tr h="26697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Block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Name :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</a:tr>
              <a:tr h="26697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solidFill>
                            <a:schemeClr val="dk1"/>
                          </a:solidFill>
                        </a:rPr>
                        <a:t>Placement</a:t>
                      </a:r>
                      <a:r>
                        <a:rPr lang="en" sz="1200" u="sng">
                          <a:solidFill>
                            <a:schemeClr val="dk1"/>
                          </a:solidFill>
                        </a:rPr>
                        <a:t> Summary </a:t>
                      </a:r>
                      <a:endParaRPr sz="1200" u="sng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</a:tr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 No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Parameters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Value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Global max</a:t>
                      </a:r>
                      <a:r>
                        <a:rPr lang="en" sz="1200"/>
                        <a:t> placement density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Final Utilization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63.46% (Overall utilization)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Max_transition</a:t>
                      </a:r>
                      <a:r>
                        <a:rPr lang="en" sz="1200"/>
                        <a:t> limit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Max_capacitance</a:t>
                      </a:r>
                      <a:r>
                        <a:rPr lang="en" sz="1200"/>
                        <a:t> limit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Max_fanout</a:t>
                      </a:r>
                      <a:r>
                        <a:rPr lang="en" sz="1200"/>
                        <a:t> limit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Final cell density</a:t>
                      </a: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34.54% (Cell utilization)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of path </a:t>
                      </a:r>
                      <a:r>
                        <a:rPr lang="en" sz="1200"/>
                        <a:t> groups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of TIEH</a:t>
                      </a:r>
                      <a:r>
                        <a:rPr lang="en" sz="1200"/>
                        <a:t> cells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266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of TIEL cells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37"/>
          <p:cNvSpPr/>
          <p:nvPr/>
        </p:nvSpPr>
        <p:spPr>
          <a:xfrm>
            <a:off x="146940" y="476822"/>
            <a:ext cx="26468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7) Placement Summary and QOR :   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7"/>
          <p:cNvSpPr/>
          <p:nvPr/>
        </p:nvSpPr>
        <p:spPr>
          <a:xfrm>
            <a:off x="277197" y="2835224"/>
            <a:ext cx="1781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/>
        </p:nvSpPr>
        <p:spPr>
          <a:xfrm>
            <a:off x="8433" y="84407"/>
            <a:ext cx="458577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Design QOR Evaluation Metrics: </a:t>
            </a:r>
            <a:endParaRPr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8"/>
          <p:cNvSpPr/>
          <p:nvPr/>
        </p:nvSpPr>
        <p:spPr>
          <a:xfrm>
            <a:off x="110084" y="429525"/>
            <a:ext cx="34243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Placement summary and QOR Continued …..   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8"/>
          <p:cNvSpPr/>
          <p:nvPr/>
        </p:nvSpPr>
        <p:spPr>
          <a:xfrm>
            <a:off x="277197" y="2835224"/>
            <a:ext cx="1781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7" name="Google Shape;227;p38"/>
          <p:cNvGraphicFramePr/>
          <p:nvPr/>
        </p:nvGraphicFramePr>
        <p:xfrm>
          <a:off x="277197" y="837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342700"/>
                <a:gridCol w="1928475"/>
                <a:gridCol w="724400"/>
                <a:gridCol w="734775"/>
                <a:gridCol w="1881775"/>
                <a:gridCol w="1558550"/>
                <a:gridCol w="1077775"/>
              </a:tblGrid>
              <a:tr h="292650">
                <a:tc gridSpan="7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Block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Name :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68600">
                <a:tc grid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sng"/>
                        <a:t>Placement</a:t>
                      </a:r>
                      <a:r>
                        <a:rPr lang="en" sz="1200" u="sng"/>
                        <a:t> </a:t>
                      </a:r>
                      <a:r>
                        <a:rPr lang="en" sz="1200" u="sng"/>
                        <a:t> QOR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43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 No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Parameter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Expected Value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Actual Value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Analysis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Controlled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action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Final Metric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28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Horizontal</a:t>
                      </a:r>
                      <a:r>
                        <a:rPr lang="en" sz="1200"/>
                        <a:t> congestion percentage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0.16%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We noticed that congestion is less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Vertical</a:t>
                      </a:r>
                      <a:r>
                        <a:rPr lang="en" sz="1200"/>
                        <a:t> congestion percentage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0.01%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We noticed that congestion is less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of Max_trans</a:t>
                      </a:r>
                      <a:r>
                        <a:rPr lang="en" sz="1200"/>
                        <a:t> violation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14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We notice that more no of transition violations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We ran a TCL file for up size the cell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Number of  Max_cap</a:t>
                      </a:r>
                      <a:r>
                        <a:rPr lang="en" sz="1200"/>
                        <a:t> violation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219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We noticed that more no of capacitance violations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We ran a TCL file for inserting buffer at net length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Number of Max_fanout violations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Setup</a:t>
                      </a:r>
                      <a:r>
                        <a:rPr lang="en" sz="1200"/>
                        <a:t> (NVP)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violation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Setup (TNS</a:t>
                      </a:r>
                      <a:r>
                        <a:rPr lang="en" sz="1200"/>
                        <a:t> )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100" y="101750"/>
            <a:ext cx="5946500" cy="436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9"/>
          <p:cNvSpPr txBox="1"/>
          <p:nvPr/>
        </p:nvSpPr>
        <p:spPr>
          <a:xfrm>
            <a:off x="2365575" y="4716675"/>
            <a:ext cx="2683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9"/>
          <p:cNvSpPr txBox="1"/>
          <p:nvPr/>
        </p:nvSpPr>
        <p:spPr>
          <a:xfrm>
            <a:off x="2843025" y="4680525"/>
            <a:ext cx="35013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PLACEMENT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/>
          <p:nvPr/>
        </p:nvSpPr>
        <p:spPr>
          <a:xfrm>
            <a:off x="8433" y="84407"/>
            <a:ext cx="458577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Design QOR Evaluation Metrics: </a:t>
            </a:r>
            <a:endParaRPr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0" name="Google Shape;240;p40"/>
          <p:cNvGraphicFramePr/>
          <p:nvPr/>
        </p:nvGraphicFramePr>
        <p:xfrm>
          <a:off x="272213" y="7772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336750"/>
                <a:gridCol w="615325"/>
                <a:gridCol w="560475"/>
                <a:gridCol w="820200"/>
                <a:gridCol w="818875"/>
                <a:gridCol w="591100"/>
                <a:gridCol w="849525"/>
                <a:gridCol w="857625"/>
                <a:gridCol w="724375"/>
                <a:gridCol w="856050"/>
                <a:gridCol w="754200"/>
                <a:gridCol w="790225"/>
              </a:tblGrid>
              <a:tr h="232625">
                <a:tc gridSpan="1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Block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Name :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32625">
                <a:tc gridSpan="1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solidFill>
                            <a:schemeClr val="dk1"/>
                          </a:solidFill>
                        </a:rPr>
                        <a:t>CTS Summary </a:t>
                      </a:r>
                      <a:endParaRPr sz="1200" u="sng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57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 No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Clock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groups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Period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Number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of sinks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Numbers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of buffers/Inverters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Target latency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Target skew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Max_trans limit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Max_cap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limit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Max_fanout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limit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Layers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NDR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67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mclk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4.00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2856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69/0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0.0674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71.1388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2856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M6(max),M1(min)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M7 Multiplied by 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vclk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4.00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p40"/>
          <p:cNvSpPr/>
          <p:nvPr/>
        </p:nvSpPr>
        <p:spPr>
          <a:xfrm>
            <a:off x="110084" y="429525"/>
            <a:ext cx="21591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8) CTS Summary and QOR :   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0"/>
          <p:cNvSpPr/>
          <p:nvPr/>
        </p:nvSpPr>
        <p:spPr>
          <a:xfrm>
            <a:off x="277197" y="2835224"/>
            <a:ext cx="1781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0"/>
          <p:cNvSpPr txBox="1"/>
          <p:nvPr/>
        </p:nvSpPr>
        <p:spPr>
          <a:xfrm>
            <a:off x="405125" y="4514125"/>
            <a:ext cx="832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0"/>
          <p:cNvSpPr txBox="1"/>
          <p:nvPr/>
        </p:nvSpPr>
        <p:spPr>
          <a:xfrm>
            <a:off x="209800" y="4608175"/>
            <a:ext cx="8574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CLOCK AFTER  METAL M7 WIDTH AND SPACING MULTIPLIED BY 2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963" y="3568925"/>
            <a:ext cx="5793250" cy="945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/>
        </p:nvSpPr>
        <p:spPr>
          <a:xfrm>
            <a:off x="0" y="-48434"/>
            <a:ext cx="3945888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Design QOR Evaluation Metrics: 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1"/>
          <p:cNvSpPr/>
          <p:nvPr/>
        </p:nvSpPr>
        <p:spPr>
          <a:xfrm>
            <a:off x="92330" y="244019"/>
            <a:ext cx="29366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CTS summary and QOR Continued …..   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1"/>
          <p:cNvSpPr/>
          <p:nvPr/>
        </p:nvSpPr>
        <p:spPr>
          <a:xfrm>
            <a:off x="277197" y="2835224"/>
            <a:ext cx="1781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3" name="Google Shape;253;p41"/>
          <p:cNvGraphicFramePr/>
          <p:nvPr/>
        </p:nvGraphicFramePr>
        <p:xfrm>
          <a:off x="226992" y="5210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1109050"/>
                <a:gridCol w="1604750"/>
                <a:gridCol w="1095625"/>
                <a:gridCol w="1216475"/>
                <a:gridCol w="1233775"/>
                <a:gridCol w="1372425"/>
                <a:gridCol w="1057900"/>
              </a:tblGrid>
              <a:tr h="243600">
                <a:tc gridSpan="7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Block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Name :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43600">
                <a:tc grid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sng"/>
                        <a:t>CTS </a:t>
                      </a:r>
                      <a:r>
                        <a:rPr lang="en" sz="1200" u="sng"/>
                        <a:t> QOR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4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Clock groups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Parameters</a:t>
                      </a:r>
                      <a:endParaRPr sz="14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Expected Value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Actual Value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Analysis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Controlled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action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Final Metric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243600"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Clock group 1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Max_latency</a:t>
                      </a: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0.569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Due to insertion of buffers and inverters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6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Global</a:t>
                      </a:r>
                      <a:r>
                        <a:rPr lang="en" sz="1200"/>
                        <a:t> skew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0.084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Due to delay buffers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0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Max_trans</a:t>
                      </a:r>
                      <a:r>
                        <a:rPr lang="en" sz="1200"/>
                        <a:t> violations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Max_cap</a:t>
                      </a:r>
                      <a:r>
                        <a:rPr lang="en" sz="1200"/>
                        <a:t>  violations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Max_fanout</a:t>
                      </a:r>
                      <a:r>
                        <a:rPr lang="en" sz="1200"/>
                        <a:t>  violations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4" name="Google Shape;254;p41"/>
          <p:cNvGraphicFramePr/>
          <p:nvPr/>
        </p:nvGraphicFramePr>
        <p:xfrm>
          <a:off x="455372" y="33215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342700"/>
                <a:gridCol w="1928475"/>
                <a:gridCol w="724400"/>
                <a:gridCol w="734775"/>
                <a:gridCol w="1881775"/>
                <a:gridCol w="1558550"/>
                <a:gridCol w="1077775"/>
              </a:tblGrid>
              <a:tr h="213900">
                <a:tc gridSpan="7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Block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Name :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56075">
                <a:tc grid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sng"/>
                        <a:t>CTS</a:t>
                      </a:r>
                      <a:r>
                        <a:rPr lang="en" sz="1200" u="sng"/>
                        <a:t> Timing</a:t>
                      </a:r>
                      <a:r>
                        <a:rPr lang="en" sz="1200" u="sng"/>
                        <a:t> QOR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41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 No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Parameter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Expected Value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Actual Value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Analysis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Controlled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action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Final Metric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27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Setup (TNS</a:t>
                      </a:r>
                      <a:r>
                        <a:rPr lang="en" sz="1200"/>
                        <a:t> )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violation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Hold</a:t>
                      </a:r>
                      <a:r>
                        <a:rPr lang="en" sz="1200"/>
                        <a:t> </a:t>
                      </a:r>
                      <a:r>
                        <a:rPr lang="en" sz="1200"/>
                        <a:t> (TNS</a:t>
                      </a:r>
                      <a:r>
                        <a:rPr lang="en" sz="1200"/>
                        <a:t> )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-0.01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The Negative slack is due to Reg-Reg path Negative slack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Prime time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Negligible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400" y="159650"/>
            <a:ext cx="5410674" cy="430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2"/>
          <p:cNvSpPr txBox="1"/>
          <p:nvPr/>
        </p:nvSpPr>
        <p:spPr>
          <a:xfrm>
            <a:off x="1801300" y="4535850"/>
            <a:ext cx="47889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CLOCK TREE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/>
          <p:nvPr/>
        </p:nvSpPr>
        <p:spPr>
          <a:xfrm>
            <a:off x="8433" y="84407"/>
            <a:ext cx="458577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Design QOR Evaluation Metrics: </a:t>
            </a:r>
            <a:endParaRPr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3"/>
          <p:cNvSpPr/>
          <p:nvPr/>
        </p:nvSpPr>
        <p:spPr>
          <a:xfrm>
            <a:off x="110084" y="429525"/>
            <a:ext cx="24465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9) Routing Summary and QOR :   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3"/>
          <p:cNvSpPr/>
          <p:nvPr/>
        </p:nvSpPr>
        <p:spPr>
          <a:xfrm>
            <a:off x="277197" y="2835224"/>
            <a:ext cx="1781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8" name="Google Shape;268;p43"/>
          <p:cNvGraphicFramePr/>
          <p:nvPr/>
        </p:nvGraphicFramePr>
        <p:xfrm>
          <a:off x="141109" y="7066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348950"/>
                <a:gridCol w="1963675"/>
                <a:gridCol w="737625"/>
                <a:gridCol w="748200"/>
                <a:gridCol w="1916125"/>
                <a:gridCol w="1893000"/>
                <a:gridCol w="1270225"/>
              </a:tblGrid>
              <a:tr h="255525">
                <a:tc gridSpan="7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Block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Name :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55525">
                <a:tc grid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sng"/>
                        <a:t>Routing  </a:t>
                      </a:r>
                      <a:r>
                        <a:rPr lang="en" sz="1200" u="sng"/>
                        <a:t> QOR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44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 No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Parameter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Expected Value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Actual Value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Analysis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Controlled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action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Final Metric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44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of shorts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Due to overlapping of M6 layer in Macro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Avoid the short by using M7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opens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200"/>
                        <a:t>check_lvs -max_errors 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of DRC violations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check_route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3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Number of PG</a:t>
                      </a:r>
                      <a:r>
                        <a:rPr lang="en" sz="1200"/>
                        <a:t> shorts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/>
                        <a:t>check_pg_drc -do_not_check_shapes_in_hier_blocks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antenna violations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Max_trans</a:t>
                      </a:r>
                      <a:r>
                        <a:rPr lang="en" sz="1200"/>
                        <a:t> violations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08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200"/>
                        <a:t>Due to Routing and CTS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Prime Time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Yet to be Done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Max_cap</a:t>
                      </a:r>
                      <a:r>
                        <a:rPr lang="en" sz="1200"/>
                        <a:t> violations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123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200"/>
                        <a:t>Due to Routing and CTS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Prime Time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Yet to be Done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Max_fanout_violations</a:t>
                      </a: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200"/>
                        <a:t>41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Due to CTS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Prime Time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Yet to be Done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Setup</a:t>
                      </a:r>
                      <a:r>
                        <a:rPr lang="en" sz="1200"/>
                        <a:t> (TNS)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200"/>
                        <a:t>report_global_timing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Hold (TNS</a:t>
                      </a:r>
                      <a:r>
                        <a:rPr lang="en" sz="1200"/>
                        <a:t> )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200"/>
                        <a:t>-14.81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Due to Reg-Reg path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route_opt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-0.01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/>
        </p:nvSpPr>
        <p:spPr>
          <a:xfrm>
            <a:off x="8433" y="84407"/>
            <a:ext cx="458577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Design QOR Evaluation Metrics: </a:t>
            </a:r>
            <a:endParaRPr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4"/>
          <p:cNvSpPr/>
          <p:nvPr/>
        </p:nvSpPr>
        <p:spPr>
          <a:xfrm>
            <a:off x="110084" y="429525"/>
            <a:ext cx="1309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10) Final QOR :   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5" name="Google Shape;275;p44"/>
          <p:cNvGraphicFramePr/>
          <p:nvPr/>
        </p:nvGraphicFramePr>
        <p:xfrm>
          <a:off x="141109" y="7368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368175"/>
                <a:gridCol w="2071775"/>
                <a:gridCol w="1376400"/>
                <a:gridCol w="1231425"/>
                <a:gridCol w="1263000"/>
                <a:gridCol w="1392700"/>
                <a:gridCol w="1157850"/>
              </a:tblGrid>
              <a:tr h="259500">
                <a:tc gridSpan="7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Block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Name :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41575">
                <a:tc grid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sng"/>
                        <a:t>Routing  </a:t>
                      </a:r>
                      <a:r>
                        <a:rPr lang="en" sz="1200" u="sng"/>
                        <a:t> QOR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41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 No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Parameter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Floorplan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Placement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CTS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Routing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After Timing ECO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25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of cells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27948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32520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35478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35478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Utilization 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34.91%(Cell)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60.41%(Overall)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34.27%(Cell)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63.46%(Overall)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40.76</a:t>
                      </a:r>
                      <a:r>
                        <a:rPr lang="en" sz="1200"/>
                        <a:t>%(Cell)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67.24%(Overall)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40.86%(Cell)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67.30%(Overall)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Congestion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0%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</a:t>
                      </a:r>
                      <a:r>
                        <a:rPr lang="en" sz="1200"/>
                        <a:t>16%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0.68%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5.80%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Max_trans</a:t>
                      </a:r>
                      <a:r>
                        <a:rPr lang="en" sz="1200"/>
                        <a:t> violations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Max_cap</a:t>
                      </a:r>
                      <a:r>
                        <a:rPr lang="en" sz="1200"/>
                        <a:t> violations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450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14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123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Max_fanout_violations</a:t>
                      </a: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41 (lowest -  (31) ZCTSNET_31, </a:t>
                      </a:r>
                      <a:r>
                        <a:rPr lang="en" sz="1200"/>
                        <a:t>highest - (134) ZCTSNET_76)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41 (lowest - (31) ZCTSNET_31, highest - (134) ZCTSNET_76)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Setup</a:t>
                      </a:r>
                      <a:r>
                        <a:rPr lang="en" sz="1200"/>
                        <a:t> (NPV)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Setup (WNS)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violations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violations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violations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violations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200"/>
                        <a:t>Hold (TNS</a:t>
                      </a:r>
                      <a:r>
                        <a:rPr lang="en" sz="1200"/>
                        <a:t> )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-238.36 (reg-reg)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-0.95 (reg-reg)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-14.81 (reg-reg)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Hold</a:t>
                      </a:r>
                      <a:r>
                        <a:rPr lang="en" sz="1200"/>
                        <a:t> (WNS)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violations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-0.18 (reg-reg)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-0.18 (reg-reg)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-0.09 (reg-reg)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266951" cy="40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9145" y="152400"/>
            <a:ext cx="4146056" cy="40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5"/>
          <p:cNvSpPr txBox="1"/>
          <p:nvPr/>
        </p:nvSpPr>
        <p:spPr>
          <a:xfrm>
            <a:off x="50650" y="4354975"/>
            <a:ext cx="9093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DESIGN OF GENERAL PURPOSE SHIFT REGISTER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6"/>
          <p:cNvSpPr/>
          <p:nvPr/>
        </p:nvSpPr>
        <p:spPr>
          <a:xfrm>
            <a:off x="277197" y="2835224"/>
            <a:ext cx="1781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8" name="Google Shape;288;p46"/>
          <p:cNvGraphicFramePr/>
          <p:nvPr/>
        </p:nvGraphicFramePr>
        <p:xfrm>
          <a:off x="226967" y="8095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997650"/>
                <a:gridCol w="2772600"/>
                <a:gridCol w="1538150"/>
                <a:gridCol w="2459075"/>
              </a:tblGrid>
              <a:tr h="24360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Block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Name :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</a:tr>
              <a:tr h="2436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sng"/>
                        <a:t>Timing exceptions (check timing report )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</a:tr>
              <a:tr h="24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Modes names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sng"/>
                        <a:t>Timing exceptions </a:t>
                      </a:r>
                      <a:endParaRPr sz="14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Value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Validated remarks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243600"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Func mode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of False</a:t>
                      </a:r>
                      <a:r>
                        <a:rPr lang="en" sz="1200"/>
                        <a:t> paths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False path defined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6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Disabled timing/Case constant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such Constants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0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Asynchronous clock paths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Single clock domain design; no asynchronous paths exist.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flip-flops without fan in clocks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All sequential elements in the design are properly driven by a clock signal.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multicycle paths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multicycle paths defined.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850"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Test mode</a:t>
                      </a: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 of False</a:t>
                      </a:r>
                      <a:r>
                        <a:rPr lang="en" sz="1200"/>
                        <a:t> paths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N/A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N/A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Disabled timing/Case constant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N/A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N/A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Asynchronous clock paths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N/A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N/A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flip-flops without fan in clocks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N/A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N/A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Number</a:t>
                      </a:r>
                      <a:r>
                        <a:rPr lang="en" sz="1200"/>
                        <a:t> of multicycle paths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N/A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/>
                        <a:t>N/A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9" name="Google Shape;289;p46"/>
          <p:cNvSpPr/>
          <p:nvPr/>
        </p:nvSpPr>
        <p:spPr>
          <a:xfrm>
            <a:off x="95167" y="-32981"/>
            <a:ext cx="4479833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Timing Signoff QOR Evaluation Metrics: </a:t>
            </a:r>
            <a:endParaRPr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6"/>
          <p:cNvSpPr/>
          <p:nvPr/>
        </p:nvSpPr>
        <p:spPr>
          <a:xfrm>
            <a:off x="190458" y="359435"/>
            <a:ext cx="31141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Timing Signoff QOR Evaluation Metrics: 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/>
          <p:nvPr/>
        </p:nvSpPr>
        <p:spPr>
          <a:xfrm>
            <a:off x="3327695" y="0"/>
            <a:ext cx="1191208" cy="715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7"/>
          <p:cNvSpPr txBox="1"/>
          <p:nvPr/>
        </p:nvSpPr>
        <p:spPr>
          <a:xfrm>
            <a:off x="92168" y="71086"/>
            <a:ext cx="4479833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Timing Signoff QOR Evaluation Metrics: </a:t>
            </a:r>
            <a:endParaRPr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47"/>
          <p:cNvGraphicFramePr/>
          <p:nvPr/>
        </p:nvGraphicFramePr>
        <p:xfrm>
          <a:off x="266837" y="6963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{B55DBD97-2F2F-4942-91A8-AC87E754A51C}</a:tableStyleId>
              </a:tblPr>
              <a:tblGrid>
                <a:gridCol w="342700"/>
                <a:gridCol w="1928475"/>
                <a:gridCol w="679075"/>
                <a:gridCol w="530550"/>
                <a:gridCol w="2574975"/>
                <a:gridCol w="1338675"/>
                <a:gridCol w="853975"/>
              </a:tblGrid>
              <a:tr h="292650">
                <a:tc gridSpan="7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Block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Name :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68600">
                <a:tc grid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sng"/>
                        <a:t>Timing signoff </a:t>
                      </a:r>
                      <a:r>
                        <a:rPr lang="en" sz="1200" u="sng"/>
                        <a:t>QOR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43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 No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Parameter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Expected Value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Actual Value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Analysis 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Controlled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action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Final Metric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28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Max_trans</a:t>
                      </a:r>
                      <a:r>
                        <a:rPr lang="en" sz="1200"/>
                        <a:t> violations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Marginal limits (Slack ~0.00).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Upsize drivers or insert buffers.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Max_cap</a:t>
                      </a:r>
                      <a:r>
                        <a:rPr lang="en" sz="1200"/>
                        <a:t> violations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347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Unbuffered memory outputs causing high fanout.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Targeted ECO buffer insertion on remaining nets.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Max_fanout_violations</a:t>
                      </a: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Setup</a:t>
                      </a:r>
                      <a:r>
                        <a:rPr lang="en" sz="1200"/>
                        <a:t> (TNS)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-61.02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Setup greatly improved. WNS is -2.30ns on mclk across 77 paths.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Upsize drivers or restructure logic on remaining critical paths.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-61.02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Hold (TNS</a:t>
                      </a:r>
                      <a:r>
                        <a:rPr lang="en" sz="1200"/>
                        <a:t> )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-480.78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Hold violations persist on mclk domain (2,513 paths)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Insert delay buffers on fast paths (Hold ECO).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-480.78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/>
                        <a:t>Crosstalk</a:t>
                      </a:r>
                      <a:r>
                        <a:rPr lang="en" sz="1200"/>
                        <a:t> noise</a:t>
                      </a: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Clean; no crosstalk noise violations detected (0 nets failed above_low/below_high margins).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None required.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8" name="Google Shape;298;p47"/>
          <p:cNvSpPr/>
          <p:nvPr/>
        </p:nvSpPr>
        <p:spPr>
          <a:xfrm>
            <a:off x="239515" y="419333"/>
            <a:ext cx="28042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Timing signoff Summary and QOR :   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